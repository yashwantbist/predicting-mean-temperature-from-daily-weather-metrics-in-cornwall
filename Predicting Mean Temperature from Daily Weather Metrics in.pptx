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9" autoAdjust="0"/>
    <p:restoredTop sz="94660"/>
  </p:normalViewPr>
  <p:slideViewPr>
    <p:cSldViewPr snapToGrid="0">
      <p:cViewPr varScale="1">
        <p:scale>
          <a:sx n="91" d="100"/>
          <a:sy n="91" d="100"/>
        </p:scale>
        <p:origin x="13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35137A7-58BC-4115-A707-4F8E7B6CEE91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36B57DA-D3E1-438F-9E19-AA507EEA21FD}">
      <dgm:prSet/>
      <dgm:spPr/>
      <dgm:t>
        <a:bodyPr/>
        <a:lstStyle/>
        <a:p>
          <a:r>
            <a:rPr lang="en-US" b="1" i="0" baseline="0"/>
            <a:t>What We Tried:</a:t>
          </a:r>
          <a:endParaRPr lang="en-US"/>
        </a:p>
      </dgm:t>
    </dgm:pt>
    <dgm:pt modelId="{A342B1D2-BE17-4904-AAF0-970BA2BB2FC2}" type="parTrans" cxnId="{613DDC68-3591-4FC4-BB94-733A2257C310}">
      <dgm:prSet/>
      <dgm:spPr/>
      <dgm:t>
        <a:bodyPr/>
        <a:lstStyle/>
        <a:p>
          <a:endParaRPr lang="en-US"/>
        </a:p>
      </dgm:t>
    </dgm:pt>
    <dgm:pt modelId="{CDFA03E8-1D7B-4E78-8749-B532C3E3DDE9}" type="sibTrans" cxnId="{613DDC68-3591-4FC4-BB94-733A2257C310}">
      <dgm:prSet/>
      <dgm:spPr/>
      <dgm:t>
        <a:bodyPr/>
        <a:lstStyle/>
        <a:p>
          <a:endParaRPr lang="en-US"/>
        </a:p>
      </dgm:t>
    </dgm:pt>
    <dgm:pt modelId="{702F02D3-78A2-4EA7-9116-ECFB76AAAA3E}">
      <dgm:prSet/>
      <dgm:spPr/>
      <dgm:t>
        <a:bodyPr/>
        <a:lstStyle/>
        <a:p>
          <a:r>
            <a:rPr lang="en-US" b="0" i="0" baseline="0"/>
            <a:t>Dropped low-variance features (like "Cool Deg Days", often zero).</a:t>
          </a:r>
          <a:endParaRPr lang="en-US"/>
        </a:p>
      </dgm:t>
    </dgm:pt>
    <dgm:pt modelId="{C2B829A8-8323-4E36-BF89-CB3CAB740C75}" type="parTrans" cxnId="{9E0A27DC-D7B1-4C5E-9F25-93A38B2CE66A}">
      <dgm:prSet/>
      <dgm:spPr/>
      <dgm:t>
        <a:bodyPr/>
        <a:lstStyle/>
        <a:p>
          <a:endParaRPr lang="en-US"/>
        </a:p>
      </dgm:t>
    </dgm:pt>
    <dgm:pt modelId="{4CB3F05B-C4B0-424F-9D45-D572F72BDFF4}" type="sibTrans" cxnId="{9E0A27DC-D7B1-4C5E-9F25-93A38B2CE66A}">
      <dgm:prSet/>
      <dgm:spPr/>
      <dgm:t>
        <a:bodyPr/>
        <a:lstStyle/>
        <a:p>
          <a:endParaRPr lang="en-US"/>
        </a:p>
      </dgm:t>
    </dgm:pt>
    <dgm:pt modelId="{7F345BA2-FB70-4850-BB46-509D3DD9FB71}">
      <dgm:prSet/>
      <dgm:spPr/>
      <dgm:t>
        <a:bodyPr/>
        <a:lstStyle/>
        <a:p>
          <a:r>
            <a:rPr lang="en-US" b="0" i="0" baseline="0"/>
            <a:t>Added new feature: Temp Range = Max - Min.</a:t>
          </a:r>
          <a:endParaRPr lang="en-US"/>
        </a:p>
      </dgm:t>
    </dgm:pt>
    <dgm:pt modelId="{07D0C025-0A2A-4C4B-B537-814FDD2C7C8E}" type="parTrans" cxnId="{88B5CD67-0D12-40BB-A8E2-17BA2340E246}">
      <dgm:prSet/>
      <dgm:spPr/>
      <dgm:t>
        <a:bodyPr/>
        <a:lstStyle/>
        <a:p>
          <a:endParaRPr lang="en-US"/>
        </a:p>
      </dgm:t>
    </dgm:pt>
    <dgm:pt modelId="{1FB488C3-0152-4836-AC2F-9874F391C136}" type="sibTrans" cxnId="{88B5CD67-0D12-40BB-A8E2-17BA2340E246}">
      <dgm:prSet/>
      <dgm:spPr/>
      <dgm:t>
        <a:bodyPr/>
        <a:lstStyle/>
        <a:p>
          <a:endParaRPr lang="en-US"/>
        </a:p>
      </dgm:t>
    </dgm:pt>
    <dgm:pt modelId="{2312941E-7702-41F9-88A8-7831D6925CF5}">
      <dgm:prSet/>
      <dgm:spPr/>
      <dgm:t>
        <a:bodyPr/>
        <a:lstStyle/>
        <a:p>
          <a:r>
            <a:rPr lang="en-US" b="0" i="0" baseline="0"/>
            <a:t>Tuned n_estimators and max_depth in Random Forest.</a:t>
          </a:r>
          <a:endParaRPr lang="en-US"/>
        </a:p>
      </dgm:t>
    </dgm:pt>
    <dgm:pt modelId="{47562F29-424E-4CBD-B965-F6A01210DC63}" type="parTrans" cxnId="{71CD435A-993A-426A-AF09-34A37BD67F21}">
      <dgm:prSet/>
      <dgm:spPr/>
      <dgm:t>
        <a:bodyPr/>
        <a:lstStyle/>
        <a:p>
          <a:endParaRPr lang="en-US"/>
        </a:p>
      </dgm:t>
    </dgm:pt>
    <dgm:pt modelId="{EEC8DE82-1254-4DFE-95EB-D0086C587DE1}" type="sibTrans" cxnId="{71CD435A-993A-426A-AF09-34A37BD67F21}">
      <dgm:prSet/>
      <dgm:spPr/>
      <dgm:t>
        <a:bodyPr/>
        <a:lstStyle/>
        <a:p>
          <a:endParaRPr lang="en-US"/>
        </a:p>
      </dgm:t>
    </dgm:pt>
    <dgm:pt modelId="{0E9BB4B1-45AF-42B7-B01F-75D0EF8F84D9}">
      <dgm:prSet/>
      <dgm:spPr/>
      <dgm:t>
        <a:bodyPr/>
        <a:lstStyle/>
        <a:p>
          <a:r>
            <a:rPr lang="en-US" b="1" i="0" baseline="0"/>
            <a:t>Results:</a:t>
          </a:r>
          <a:endParaRPr lang="en-US"/>
        </a:p>
      </dgm:t>
    </dgm:pt>
    <dgm:pt modelId="{464A174F-A002-4C02-A044-73594B4400E8}" type="parTrans" cxnId="{87592FDD-5F78-47F7-BC6F-30AD4FD6B9FD}">
      <dgm:prSet/>
      <dgm:spPr/>
      <dgm:t>
        <a:bodyPr/>
        <a:lstStyle/>
        <a:p>
          <a:endParaRPr lang="en-US"/>
        </a:p>
      </dgm:t>
    </dgm:pt>
    <dgm:pt modelId="{58A78CB8-7407-4D57-9437-467ACCE8C768}" type="sibTrans" cxnId="{87592FDD-5F78-47F7-BC6F-30AD4FD6B9FD}">
      <dgm:prSet/>
      <dgm:spPr/>
      <dgm:t>
        <a:bodyPr/>
        <a:lstStyle/>
        <a:p>
          <a:endParaRPr lang="en-US"/>
        </a:p>
      </dgm:t>
    </dgm:pt>
    <dgm:pt modelId="{529847CC-ECDF-4173-A847-77223F390944}">
      <dgm:prSet/>
      <dgm:spPr/>
      <dgm:t>
        <a:bodyPr/>
        <a:lstStyle/>
        <a:p>
          <a:r>
            <a:rPr lang="en-US" b="0" i="0" baseline="0"/>
            <a:t>Best performance from </a:t>
          </a:r>
          <a:r>
            <a:rPr lang="en-US" b="1" i="0" baseline="0"/>
            <a:t>Random Forest (n=100)</a:t>
          </a:r>
          <a:r>
            <a:rPr lang="en-US" b="0" i="0" baseline="0"/>
            <a:t> after tuning.</a:t>
          </a:r>
          <a:endParaRPr lang="en-US"/>
        </a:p>
      </dgm:t>
    </dgm:pt>
    <dgm:pt modelId="{B30C3B7B-B994-485A-B0F5-377340A5BE94}" type="parTrans" cxnId="{5C905F32-781C-497F-8BB3-548BD699F318}">
      <dgm:prSet/>
      <dgm:spPr/>
      <dgm:t>
        <a:bodyPr/>
        <a:lstStyle/>
        <a:p>
          <a:endParaRPr lang="en-US"/>
        </a:p>
      </dgm:t>
    </dgm:pt>
    <dgm:pt modelId="{7941472E-905C-48E5-9F02-AC186B31F72D}" type="sibTrans" cxnId="{5C905F32-781C-497F-8BB3-548BD699F318}">
      <dgm:prSet/>
      <dgm:spPr/>
      <dgm:t>
        <a:bodyPr/>
        <a:lstStyle/>
        <a:p>
          <a:endParaRPr lang="en-US"/>
        </a:p>
      </dgm:t>
    </dgm:pt>
    <dgm:pt modelId="{03D9DA76-B879-4214-8F8A-485A36B2D187}">
      <dgm:prSet/>
      <dgm:spPr/>
      <dgm:t>
        <a:bodyPr/>
        <a:lstStyle/>
        <a:p>
          <a:r>
            <a:rPr lang="en-US" b="0" i="0" baseline="0"/>
            <a:t>Additional features slightly improved accuracy.</a:t>
          </a:r>
          <a:endParaRPr lang="en-US"/>
        </a:p>
      </dgm:t>
    </dgm:pt>
    <dgm:pt modelId="{75304DE2-CC36-42F3-A329-46099FAC6C8E}" type="parTrans" cxnId="{20C8233B-8C4E-4660-8F39-7AF3085E4E47}">
      <dgm:prSet/>
      <dgm:spPr/>
      <dgm:t>
        <a:bodyPr/>
        <a:lstStyle/>
        <a:p>
          <a:endParaRPr lang="en-US"/>
        </a:p>
      </dgm:t>
    </dgm:pt>
    <dgm:pt modelId="{AB001DB1-01D8-4F04-B461-C1DA3D503DB5}" type="sibTrans" cxnId="{20C8233B-8C4E-4660-8F39-7AF3085E4E47}">
      <dgm:prSet/>
      <dgm:spPr/>
      <dgm:t>
        <a:bodyPr/>
        <a:lstStyle/>
        <a:p>
          <a:endParaRPr lang="en-US"/>
        </a:p>
      </dgm:t>
    </dgm:pt>
    <dgm:pt modelId="{AA0AFF41-0E7F-407D-B95F-863BC9B5665F}">
      <dgm:prSet/>
      <dgm:spPr/>
      <dgm:t>
        <a:bodyPr/>
        <a:lstStyle/>
        <a:p>
          <a:r>
            <a:rPr lang="en-US" b="1" i="0" baseline="0"/>
            <a:t>Did It Work?</a:t>
          </a:r>
          <a:endParaRPr lang="en-US"/>
        </a:p>
      </dgm:t>
    </dgm:pt>
    <dgm:pt modelId="{94180E5B-34F6-49C1-B9C2-166660DEB161}" type="parTrans" cxnId="{BDAA95FB-F1F6-4B4A-95DF-0819A6922C46}">
      <dgm:prSet/>
      <dgm:spPr/>
      <dgm:t>
        <a:bodyPr/>
        <a:lstStyle/>
        <a:p>
          <a:endParaRPr lang="en-US"/>
        </a:p>
      </dgm:t>
    </dgm:pt>
    <dgm:pt modelId="{9B6D79FD-9197-45F9-9D83-27609B5AE956}" type="sibTrans" cxnId="{BDAA95FB-F1F6-4B4A-95DF-0819A6922C46}">
      <dgm:prSet/>
      <dgm:spPr/>
      <dgm:t>
        <a:bodyPr/>
        <a:lstStyle/>
        <a:p>
          <a:endParaRPr lang="en-US"/>
        </a:p>
      </dgm:t>
    </dgm:pt>
    <dgm:pt modelId="{879D033C-7E0F-4883-87F9-D1347169AC9F}">
      <dgm:prSet/>
      <dgm:spPr/>
      <dgm:t>
        <a:bodyPr/>
        <a:lstStyle/>
        <a:p>
          <a:r>
            <a:rPr lang="en-US" b="0" i="0" baseline="0"/>
            <a:t>Yes, but limited by dataset size. Overfitting is possible.</a:t>
          </a:r>
          <a:endParaRPr lang="en-US"/>
        </a:p>
      </dgm:t>
    </dgm:pt>
    <dgm:pt modelId="{C120F997-1C2C-42D8-BA29-1590C627A820}" type="parTrans" cxnId="{9065911F-3BB6-41AB-A3E5-4DC96064BC03}">
      <dgm:prSet/>
      <dgm:spPr/>
      <dgm:t>
        <a:bodyPr/>
        <a:lstStyle/>
        <a:p>
          <a:endParaRPr lang="en-US"/>
        </a:p>
      </dgm:t>
    </dgm:pt>
    <dgm:pt modelId="{F07639DA-FE74-41ED-BF86-5853A8D5B07B}" type="sibTrans" cxnId="{9065911F-3BB6-41AB-A3E5-4DC96064BC03}">
      <dgm:prSet/>
      <dgm:spPr/>
      <dgm:t>
        <a:bodyPr/>
        <a:lstStyle/>
        <a:p>
          <a:endParaRPr lang="en-US"/>
        </a:p>
      </dgm:t>
    </dgm:pt>
    <dgm:pt modelId="{A5F598C6-1C0C-4E33-A5E6-AFDE4D02AB03}" type="pres">
      <dgm:prSet presAssocID="{935137A7-58BC-4115-A707-4F8E7B6CEE91}" presName="Name0" presStyleCnt="0">
        <dgm:presLayoutVars>
          <dgm:dir/>
          <dgm:resizeHandles val="exact"/>
        </dgm:presLayoutVars>
      </dgm:prSet>
      <dgm:spPr/>
    </dgm:pt>
    <dgm:pt modelId="{CD77444E-308E-4D9C-BEA9-EBBD93765661}" type="pres">
      <dgm:prSet presAssocID="{136B57DA-D3E1-438F-9E19-AA507EEA21FD}" presName="node" presStyleLbl="node1" presStyleIdx="0" presStyleCnt="9">
        <dgm:presLayoutVars>
          <dgm:bulletEnabled val="1"/>
        </dgm:presLayoutVars>
      </dgm:prSet>
      <dgm:spPr/>
    </dgm:pt>
    <dgm:pt modelId="{DDACDFE2-D5C7-47FB-9C7D-C38FFCE0C3DF}" type="pres">
      <dgm:prSet presAssocID="{CDFA03E8-1D7B-4E78-8749-B532C3E3DDE9}" presName="sibTrans" presStyleLbl="sibTrans1D1" presStyleIdx="0" presStyleCnt="8"/>
      <dgm:spPr/>
    </dgm:pt>
    <dgm:pt modelId="{E9964792-1E64-4835-8162-F5B6D1086ACF}" type="pres">
      <dgm:prSet presAssocID="{CDFA03E8-1D7B-4E78-8749-B532C3E3DDE9}" presName="connectorText" presStyleLbl="sibTrans1D1" presStyleIdx="0" presStyleCnt="8"/>
      <dgm:spPr/>
    </dgm:pt>
    <dgm:pt modelId="{15DBEA11-2B77-4843-BA6A-68F048615C63}" type="pres">
      <dgm:prSet presAssocID="{702F02D3-78A2-4EA7-9116-ECFB76AAAA3E}" presName="node" presStyleLbl="node1" presStyleIdx="1" presStyleCnt="9">
        <dgm:presLayoutVars>
          <dgm:bulletEnabled val="1"/>
        </dgm:presLayoutVars>
      </dgm:prSet>
      <dgm:spPr/>
    </dgm:pt>
    <dgm:pt modelId="{65033F72-0491-4806-B388-CFF5CC4B0C31}" type="pres">
      <dgm:prSet presAssocID="{4CB3F05B-C4B0-424F-9D45-D572F72BDFF4}" presName="sibTrans" presStyleLbl="sibTrans1D1" presStyleIdx="1" presStyleCnt="8"/>
      <dgm:spPr/>
    </dgm:pt>
    <dgm:pt modelId="{4B208128-701F-40EE-B0AD-2AD35946F968}" type="pres">
      <dgm:prSet presAssocID="{4CB3F05B-C4B0-424F-9D45-D572F72BDFF4}" presName="connectorText" presStyleLbl="sibTrans1D1" presStyleIdx="1" presStyleCnt="8"/>
      <dgm:spPr/>
    </dgm:pt>
    <dgm:pt modelId="{07A42878-1CD4-4483-810E-7CE118255F25}" type="pres">
      <dgm:prSet presAssocID="{7F345BA2-FB70-4850-BB46-509D3DD9FB71}" presName="node" presStyleLbl="node1" presStyleIdx="2" presStyleCnt="9">
        <dgm:presLayoutVars>
          <dgm:bulletEnabled val="1"/>
        </dgm:presLayoutVars>
      </dgm:prSet>
      <dgm:spPr/>
    </dgm:pt>
    <dgm:pt modelId="{3A033C9C-5447-4265-911C-EE61E78E6E4C}" type="pres">
      <dgm:prSet presAssocID="{1FB488C3-0152-4836-AC2F-9874F391C136}" presName="sibTrans" presStyleLbl="sibTrans1D1" presStyleIdx="2" presStyleCnt="8"/>
      <dgm:spPr/>
    </dgm:pt>
    <dgm:pt modelId="{4EA10015-0235-4303-B1F5-22292C35F544}" type="pres">
      <dgm:prSet presAssocID="{1FB488C3-0152-4836-AC2F-9874F391C136}" presName="connectorText" presStyleLbl="sibTrans1D1" presStyleIdx="2" presStyleCnt="8"/>
      <dgm:spPr/>
    </dgm:pt>
    <dgm:pt modelId="{7784A45A-A577-435F-8387-B040D3EF113B}" type="pres">
      <dgm:prSet presAssocID="{2312941E-7702-41F9-88A8-7831D6925CF5}" presName="node" presStyleLbl="node1" presStyleIdx="3" presStyleCnt="9">
        <dgm:presLayoutVars>
          <dgm:bulletEnabled val="1"/>
        </dgm:presLayoutVars>
      </dgm:prSet>
      <dgm:spPr/>
    </dgm:pt>
    <dgm:pt modelId="{46427B4B-BA80-43D4-AE38-53D317E612FC}" type="pres">
      <dgm:prSet presAssocID="{EEC8DE82-1254-4DFE-95EB-D0086C587DE1}" presName="sibTrans" presStyleLbl="sibTrans1D1" presStyleIdx="3" presStyleCnt="8"/>
      <dgm:spPr/>
    </dgm:pt>
    <dgm:pt modelId="{E6A0041F-8CEC-4D1A-8CFD-2F3748060BE1}" type="pres">
      <dgm:prSet presAssocID="{EEC8DE82-1254-4DFE-95EB-D0086C587DE1}" presName="connectorText" presStyleLbl="sibTrans1D1" presStyleIdx="3" presStyleCnt="8"/>
      <dgm:spPr/>
    </dgm:pt>
    <dgm:pt modelId="{AF95D173-3AE5-4AD7-80C2-743C9AA64C2F}" type="pres">
      <dgm:prSet presAssocID="{0E9BB4B1-45AF-42B7-B01F-75D0EF8F84D9}" presName="node" presStyleLbl="node1" presStyleIdx="4" presStyleCnt="9">
        <dgm:presLayoutVars>
          <dgm:bulletEnabled val="1"/>
        </dgm:presLayoutVars>
      </dgm:prSet>
      <dgm:spPr/>
    </dgm:pt>
    <dgm:pt modelId="{C858ECB1-B98B-4506-B975-6F97AFB374CA}" type="pres">
      <dgm:prSet presAssocID="{58A78CB8-7407-4D57-9437-467ACCE8C768}" presName="sibTrans" presStyleLbl="sibTrans1D1" presStyleIdx="4" presStyleCnt="8"/>
      <dgm:spPr/>
    </dgm:pt>
    <dgm:pt modelId="{758EF8FF-F764-4388-80A6-B1ABE1C7CB0D}" type="pres">
      <dgm:prSet presAssocID="{58A78CB8-7407-4D57-9437-467ACCE8C768}" presName="connectorText" presStyleLbl="sibTrans1D1" presStyleIdx="4" presStyleCnt="8"/>
      <dgm:spPr/>
    </dgm:pt>
    <dgm:pt modelId="{3F1C6EED-4483-48B4-94E2-6E0055870769}" type="pres">
      <dgm:prSet presAssocID="{529847CC-ECDF-4173-A847-77223F390944}" presName="node" presStyleLbl="node1" presStyleIdx="5" presStyleCnt="9">
        <dgm:presLayoutVars>
          <dgm:bulletEnabled val="1"/>
        </dgm:presLayoutVars>
      </dgm:prSet>
      <dgm:spPr/>
    </dgm:pt>
    <dgm:pt modelId="{D2361617-252C-4975-97D8-5EDFD6839608}" type="pres">
      <dgm:prSet presAssocID="{7941472E-905C-48E5-9F02-AC186B31F72D}" presName="sibTrans" presStyleLbl="sibTrans1D1" presStyleIdx="5" presStyleCnt="8"/>
      <dgm:spPr/>
    </dgm:pt>
    <dgm:pt modelId="{351C2E9B-94DD-4AE5-967A-9672A1BADEA8}" type="pres">
      <dgm:prSet presAssocID="{7941472E-905C-48E5-9F02-AC186B31F72D}" presName="connectorText" presStyleLbl="sibTrans1D1" presStyleIdx="5" presStyleCnt="8"/>
      <dgm:spPr/>
    </dgm:pt>
    <dgm:pt modelId="{45F3C3DF-BF13-45B8-8B81-E08F25053344}" type="pres">
      <dgm:prSet presAssocID="{03D9DA76-B879-4214-8F8A-485A36B2D187}" presName="node" presStyleLbl="node1" presStyleIdx="6" presStyleCnt="9">
        <dgm:presLayoutVars>
          <dgm:bulletEnabled val="1"/>
        </dgm:presLayoutVars>
      </dgm:prSet>
      <dgm:spPr/>
    </dgm:pt>
    <dgm:pt modelId="{3CABC04D-2715-4F48-9B6C-1FBFCFB07239}" type="pres">
      <dgm:prSet presAssocID="{AB001DB1-01D8-4F04-B461-C1DA3D503DB5}" presName="sibTrans" presStyleLbl="sibTrans1D1" presStyleIdx="6" presStyleCnt="8"/>
      <dgm:spPr/>
    </dgm:pt>
    <dgm:pt modelId="{34155C89-3990-4512-BD9A-B1CC670396B0}" type="pres">
      <dgm:prSet presAssocID="{AB001DB1-01D8-4F04-B461-C1DA3D503DB5}" presName="connectorText" presStyleLbl="sibTrans1D1" presStyleIdx="6" presStyleCnt="8"/>
      <dgm:spPr/>
    </dgm:pt>
    <dgm:pt modelId="{9B1B2558-A4DF-41A1-8509-9F4E67612987}" type="pres">
      <dgm:prSet presAssocID="{AA0AFF41-0E7F-407D-B95F-863BC9B5665F}" presName="node" presStyleLbl="node1" presStyleIdx="7" presStyleCnt="9">
        <dgm:presLayoutVars>
          <dgm:bulletEnabled val="1"/>
        </dgm:presLayoutVars>
      </dgm:prSet>
      <dgm:spPr/>
    </dgm:pt>
    <dgm:pt modelId="{E5159891-17BA-48EE-A33B-F9F7D07CA19A}" type="pres">
      <dgm:prSet presAssocID="{9B6D79FD-9197-45F9-9D83-27609B5AE956}" presName="sibTrans" presStyleLbl="sibTrans1D1" presStyleIdx="7" presStyleCnt="8"/>
      <dgm:spPr/>
    </dgm:pt>
    <dgm:pt modelId="{7D65DB18-41D2-489F-9B64-00AAC6FF30ED}" type="pres">
      <dgm:prSet presAssocID="{9B6D79FD-9197-45F9-9D83-27609B5AE956}" presName="connectorText" presStyleLbl="sibTrans1D1" presStyleIdx="7" presStyleCnt="8"/>
      <dgm:spPr/>
    </dgm:pt>
    <dgm:pt modelId="{CC6B5FEF-F642-4407-9F2A-0767FA204640}" type="pres">
      <dgm:prSet presAssocID="{879D033C-7E0F-4883-87F9-D1347169AC9F}" presName="node" presStyleLbl="node1" presStyleIdx="8" presStyleCnt="9">
        <dgm:presLayoutVars>
          <dgm:bulletEnabled val="1"/>
        </dgm:presLayoutVars>
      </dgm:prSet>
      <dgm:spPr/>
    </dgm:pt>
  </dgm:ptLst>
  <dgm:cxnLst>
    <dgm:cxn modelId="{337BEF04-CEFF-4C53-8FAE-20F198845043}" type="presOf" srcId="{AB001DB1-01D8-4F04-B461-C1DA3D503DB5}" destId="{3CABC04D-2715-4F48-9B6C-1FBFCFB07239}" srcOrd="0" destOrd="0" presId="urn:microsoft.com/office/officeart/2016/7/layout/RepeatingBendingProcessNew"/>
    <dgm:cxn modelId="{5AB5040C-E86F-479E-872B-0B0C54DDE7E9}" type="presOf" srcId="{58A78CB8-7407-4D57-9437-467ACCE8C768}" destId="{758EF8FF-F764-4388-80A6-B1ABE1C7CB0D}" srcOrd="1" destOrd="0" presId="urn:microsoft.com/office/officeart/2016/7/layout/RepeatingBendingProcessNew"/>
    <dgm:cxn modelId="{A9C24E0E-3308-4BF2-A0BD-D7B802847F98}" type="presOf" srcId="{2312941E-7702-41F9-88A8-7831D6925CF5}" destId="{7784A45A-A577-435F-8387-B040D3EF113B}" srcOrd="0" destOrd="0" presId="urn:microsoft.com/office/officeart/2016/7/layout/RepeatingBendingProcessNew"/>
    <dgm:cxn modelId="{4AF69213-878D-4A43-A7F6-7898AA59DC68}" type="presOf" srcId="{7941472E-905C-48E5-9F02-AC186B31F72D}" destId="{D2361617-252C-4975-97D8-5EDFD6839608}" srcOrd="0" destOrd="0" presId="urn:microsoft.com/office/officeart/2016/7/layout/RepeatingBendingProcessNew"/>
    <dgm:cxn modelId="{A7540619-7E60-40AB-B6FB-066D3D022246}" type="presOf" srcId="{879D033C-7E0F-4883-87F9-D1347169AC9F}" destId="{CC6B5FEF-F642-4407-9F2A-0767FA204640}" srcOrd="0" destOrd="0" presId="urn:microsoft.com/office/officeart/2016/7/layout/RepeatingBendingProcessNew"/>
    <dgm:cxn modelId="{16AD7919-4109-4E87-8886-9EE7D41AA111}" type="presOf" srcId="{58A78CB8-7407-4D57-9437-467ACCE8C768}" destId="{C858ECB1-B98B-4506-B975-6F97AFB374CA}" srcOrd="0" destOrd="0" presId="urn:microsoft.com/office/officeart/2016/7/layout/RepeatingBendingProcessNew"/>
    <dgm:cxn modelId="{9065911F-3BB6-41AB-A3E5-4DC96064BC03}" srcId="{935137A7-58BC-4115-A707-4F8E7B6CEE91}" destId="{879D033C-7E0F-4883-87F9-D1347169AC9F}" srcOrd="8" destOrd="0" parTransId="{C120F997-1C2C-42D8-BA29-1590C627A820}" sibTransId="{F07639DA-FE74-41ED-BF86-5853A8D5B07B}"/>
    <dgm:cxn modelId="{8BBECA20-1200-492F-8842-E07F6B4D40CF}" type="presOf" srcId="{702F02D3-78A2-4EA7-9116-ECFB76AAAA3E}" destId="{15DBEA11-2B77-4843-BA6A-68F048615C63}" srcOrd="0" destOrd="0" presId="urn:microsoft.com/office/officeart/2016/7/layout/RepeatingBendingProcessNew"/>
    <dgm:cxn modelId="{5C905F32-781C-497F-8BB3-548BD699F318}" srcId="{935137A7-58BC-4115-A707-4F8E7B6CEE91}" destId="{529847CC-ECDF-4173-A847-77223F390944}" srcOrd="5" destOrd="0" parTransId="{B30C3B7B-B994-485A-B0F5-377340A5BE94}" sibTransId="{7941472E-905C-48E5-9F02-AC186B31F72D}"/>
    <dgm:cxn modelId="{836A6F33-7CC0-45AE-9C27-F18E6B163512}" type="presOf" srcId="{935137A7-58BC-4115-A707-4F8E7B6CEE91}" destId="{A5F598C6-1C0C-4E33-A5E6-AFDE4D02AB03}" srcOrd="0" destOrd="0" presId="urn:microsoft.com/office/officeart/2016/7/layout/RepeatingBendingProcessNew"/>
    <dgm:cxn modelId="{71E2DF38-E64D-4B0A-B0F4-C2F3C7448FDA}" type="presOf" srcId="{7941472E-905C-48E5-9F02-AC186B31F72D}" destId="{351C2E9B-94DD-4AE5-967A-9672A1BADEA8}" srcOrd="1" destOrd="0" presId="urn:microsoft.com/office/officeart/2016/7/layout/RepeatingBendingProcessNew"/>
    <dgm:cxn modelId="{20C8233B-8C4E-4660-8F39-7AF3085E4E47}" srcId="{935137A7-58BC-4115-A707-4F8E7B6CEE91}" destId="{03D9DA76-B879-4214-8F8A-485A36B2D187}" srcOrd="6" destOrd="0" parTransId="{75304DE2-CC36-42F3-A329-46099FAC6C8E}" sibTransId="{AB001DB1-01D8-4F04-B461-C1DA3D503DB5}"/>
    <dgm:cxn modelId="{8BE5383B-6996-41DB-9D25-72FF82C77FB0}" type="presOf" srcId="{CDFA03E8-1D7B-4E78-8749-B532C3E3DDE9}" destId="{E9964792-1E64-4835-8162-F5B6D1086ACF}" srcOrd="1" destOrd="0" presId="urn:microsoft.com/office/officeart/2016/7/layout/RepeatingBendingProcessNew"/>
    <dgm:cxn modelId="{BABD8B3E-D3ED-44A4-A6E1-4A97384616B2}" type="presOf" srcId="{03D9DA76-B879-4214-8F8A-485A36B2D187}" destId="{45F3C3DF-BF13-45B8-8B81-E08F25053344}" srcOrd="0" destOrd="0" presId="urn:microsoft.com/office/officeart/2016/7/layout/RepeatingBendingProcessNew"/>
    <dgm:cxn modelId="{D7581340-546F-4FE4-B4FA-26C9E27FE79C}" type="presOf" srcId="{9B6D79FD-9197-45F9-9D83-27609B5AE956}" destId="{E5159891-17BA-48EE-A33B-F9F7D07CA19A}" srcOrd="0" destOrd="0" presId="urn:microsoft.com/office/officeart/2016/7/layout/RepeatingBendingProcessNew"/>
    <dgm:cxn modelId="{9F4EFB45-D5BB-4B0B-AD5C-A9D4CB7A38C6}" type="presOf" srcId="{136B57DA-D3E1-438F-9E19-AA507EEA21FD}" destId="{CD77444E-308E-4D9C-BEA9-EBBD93765661}" srcOrd="0" destOrd="0" presId="urn:microsoft.com/office/officeart/2016/7/layout/RepeatingBendingProcessNew"/>
    <dgm:cxn modelId="{88B5CD67-0D12-40BB-A8E2-17BA2340E246}" srcId="{935137A7-58BC-4115-A707-4F8E7B6CEE91}" destId="{7F345BA2-FB70-4850-BB46-509D3DD9FB71}" srcOrd="2" destOrd="0" parTransId="{07D0C025-0A2A-4C4B-B537-814FDD2C7C8E}" sibTransId="{1FB488C3-0152-4836-AC2F-9874F391C136}"/>
    <dgm:cxn modelId="{FB7A4868-76F3-4008-A787-FDE14574AE2B}" type="presOf" srcId="{EEC8DE82-1254-4DFE-95EB-D0086C587DE1}" destId="{46427B4B-BA80-43D4-AE38-53D317E612FC}" srcOrd="0" destOrd="0" presId="urn:microsoft.com/office/officeart/2016/7/layout/RepeatingBendingProcessNew"/>
    <dgm:cxn modelId="{613DDC68-3591-4FC4-BB94-733A2257C310}" srcId="{935137A7-58BC-4115-A707-4F8E7B6CEE91}" destId="{136B57DA-D3E1-438F-9E19-AA507EEA21FD}" srcOrd="0" destOrd="0" parTransId="{A342B1D2-BE17-4904-AAF0-970BA2BB2FC2}" sibTransId="{CDFA03E8-1D7B-4E78-8749-B532C3E3DDE9}"/>
    <dgm:cxn modelId="{37FAE169-EF06-4C19-83C1-F887ADA98AF8}" type="presOf" srcId="{4CB3F05B-C4B0-424F-9D45-D572F72BDFF4}" destId="{4B208128-701F-40EE-B0AD-2AD35946F968}" srcOrd="1" destOrd="0" presId="urn:microsoft.com/office/officeart/2016/7/layout/RepeatingBendingProcessNew"/>
    <dgm:cxn modelId="{1EAE464B-739A-492E-9C6F-34049527CE1B}" type="presOf" srcId="{AB001DB1-01D8-4F04-B461-C1DA3D503DB5}" destId="{34155C89-3990-4512-BD9A-B1CC670396B0}" srcOrd="1" destOrd="0" presId="urn:microsoft.com/office/officeart/2016/7/layout/RepeatingBendingProcessNew"/>
    <dgm:cxn modelId="{F9805A6C-A055-47E3-AE14-7946AB4723BB}" type="presOf" srcId="{0E9BB4B1-45AF-42B7-B01F-75D0EF8F84D9}" destId="{AF95D173-3AE5-4AD7-80C2-743C9AA64C2F}" srcOrd="0" destOrd="0" presId="urn:microsoft.com/office/officeart/2016/7/layout/RepeatingBendingProcessNew"/>
    <dgm:cxn modelId="{71CD435A-993A-426A-AF09-34A37BD67F21}" srcId="{935137A7-58BC-4115-A707-4F8E7B6CEE91}" destId="{2312941E-7702-41F9-88A8-7831D6925CF5}" srcOrd="3" destOrd="0" parTransId="{47562F29-424E-4CBD-B965-F6A01210DC63}" sibTransId="{EEC8DE82-1254-4DFE-95EB-D0086C587DE1}"/>
    <dgm:cxn modelId="{F231D97A-A740-407A-B535-B27EBC700EC3}" type="presOf" srcId="{4CB3F05B-C4B0-424F-9D45-D572F72BDFF4}" destId="{65033F72-0491-4806-B388-CFF5CC4B0C31}" srcOrd="0" destOrd="0" presId="urn:microsoft.com/office/officeart/2016/7/layout/RepeatingBendingProcessNew"/>
    <dgm:cxn modelId="{128E349E-98D5-496D-96A2-EDFBCEA31566}" type="presOf" srcId="{9B6D79FD-9197-45F9-9D83-27609B5AE956}" destId="{7D65DB18-41D2-489F-9B64-00AAC6FF30ED}" srcOrd="1" destOrd="0" presId="urn:microsoft.com/office/officeart/2016/7/layout/RepeatingBendingProcessNew"/>
    <dgm:cxn modelId="{E04B0AB1-FA55-4A02-BB04-B56B61059198}" type="presOf" srcId="{AA0AFF41-0E7F-407D-B95F-863BC9B5665F}" destId="{9B1B2558-A4DF-41A1-8509-9F4E67612987}" srcOrd="0" destOrd="0" presId="urn:microsoft.com/office/officeart/2016/7/layout/RepeatingBendingProcessNew"/>
    <dgm:cxn modelId="{9E0A27DC-D7B1-4C5E-9F25-93A38B2CE66A}" srcId="{935137A7-58BC-4115-A707-4F8E7B6CEE91}" destId="{702F02D3-78A2-4EA7-9116-ECFB76AAAA3E}" srcOrd="1" destOrd="0" parTransId="{C2B829A8-8323-4E36-BF89-CB3CAB740C75}" sibTransId="{4CB3F05B-C4B0-424F-9D45-D572F72BDFF4}"/>
    <dgm:cxn modelId="{87592FDD-5F78-47F7-BC6F-30AD4FD6B9FD}" srcId="{935137A7-58BC-4115-A707-4F8E7B6CEE91}" destId="{0E9BB4B1-45AF-42B7-B01F-75D0EF8F84D9}" srcOrd="4" destOrd="0" parTransId="{464A174F-A002-4C02-A044-73594B4400E8}" sibTransId="{58A78CB8-7407-4D57-9437-467ACCE8C768}"/>
    <dgm:cxn modelId="{38FD7CE8-81EF-4099-90E2-D8E73D27BA61}" type="presOf" srcId="{CDFA03E8-1D7B-4E78-8749-B532C3E3DDE9}" destId="{DDACDFE2-D5C7-47FB-9C7D-C38FFCE0C3DF}" srcOrd="0" destOrd="0" presId="urn:microsoft.com/office/officeart/2016/7/layout/RepeatingBendingProcessNew"/>
    <dgm:cxn modelId="{00B746EA-7144-474F-B246-A3C08E77CAC4}" type="presOf" srcId="{EEC8DE82-1254-4DFE-95EB-D0086C587DE1}" destId="{E6A0041F-8CEC-4D1A-8CFD-2F3748060BE1}" srcOrd="1" destOrd="0" presId="urn:microsoft.com/office/officeart/2016/7/layout/RepeatingBendingProcessNew"/>
    <dgm:cxn modelId="{0E2B7DF2-D758-4AF6-8F2C-3C722AAF76F6}" type="presOf" srcId="{529847CC-ECDF-4173-A847-77223F390944}" destId="{3F1C6EED-4483-48B4-94E2-6E0055870769}" srcOrd="0" destOrd="0" presId="urn:microsoft.com/office/officeart/2016/7/layout/RepeatingBendingProcessNew"/>
    <dgm:cxn modelId="{BDAA95FB-F1F6-4B4A-95DF-0819A6922C46}" srcId="{935137A7-58BC-4115-A707-4F8E7B6CEE91}" destId="{AA0AFF41-0E7F-407D-B95F-863BC9B5665F}" srcOrd="7" destOrd="0" parTransId="{94180E5B-34F6-49C1-B9C2-166660DEB161}" sibTransId="{9B6D79FD-9197-45F9-9D83-27609B5AE956}"/>
    <dgm:cxn modelId="{258929FE-2085-41FC-8EED-AA18E7115D7B}" type="presOf" srcId="{1FB488C3-0152-4836-AC2F-9874F391C136}" destId="{4EA10015-0235-4303-B1F5-22292C35F544}" srcOrd="1" destOrd="0" presId="urn:microsoft.com/office/officeart/2016/7/layout/RepeatingBendingProcessNew"/>
    <dgm:cxn modelId="{4C0E46FF-99D4-4CD2-9DC3-D512A0DEAB99}" type="presOf" srcId="{7F345BA2-FB70-4850-BB46-509D3DD9FB71}" destId="{07A42878-1CD4-4483-810E-7CE118255F25}" srcOrd="0" destOrd="0" presId="urn:microsoft.com/office/officeart/2016/7/layout/RepeatingBendingProcessNew"/>
    <dgm:cxn modelId="{84C7C5FF-7AB6-4788-830D-AF10D4408B28}" type="presOf" srcId="{1FB488C3-0152-4836-AC2F-9874F391C136}" destId="{3A033C9C-5447-4265-911C-EE61E78E6E4C}" srcOrd="0" destOrd="0" presId="urn:microsoft.com/office/officeart/2016/7/layout/RepeatingBendingProcessNew"/>
    <dgm:cxn modelId="{1A84A068-6E9D-459B-BED1-E6597A0CF59B}" type="presParOf" srcId="{A5F598C6-1C0C-4E33-A5E6-AFDE4D02AB03}" destId="{CD77444E-308E-4D9C-BEA9-EBBD93765661}" srcOrd="0" destOrd="0" presId="urn:microsoft.com/office/officeart/2016/7/layout/RepeatingBendingProcessNew"/>
    <dgm:cxn modelId="{5C59EF15-D176-4869-A775-10247BAFF315}" type="presParOf" srcId="{A5F598C6-1C0C-4E33-A5E6-AFDE4D02AB03}" destId="{DDACDFE2-D5C7-47FB-9C7D-C38FFCE0C3DF}" srcOrd="1" destOrd="0" presId="urn:microsoft.com/office/officeart/2016/7/layout/RepeatingBendingProcessNew"/>
    <dgm:cxn modelId="{C8ED5D7B-871A-400F-8F24-4429AEFB90DC}" type="presParOf" srcId="{DDACDFE2-D5C7-47FB-9C7D-C38FFCE0C3DF}" destId="{E9964792-1E64-4835-8162-F5B6D1086ACF}" srcOrd="0" destOrd="0" presId="urn:microsoft.com/office/officeart/2016/7/layout/RepeatingBendingProcessNew"/>
    <dgm:cxn modelId="{63342475-D480-42DC-B94F-6D894BE468CA}" type="presParOf" srcId="{A5F598C6-1C0C-4E33-A5E6-AFDE4D02AB03}" destId="{15DBEA11-2B77-4843-BA6A-68F048615C63}" srcOrd="2" destOrd="0" presId="urn:microsoft.com/office/officeart/2016/7/layout/RepeatingBendingProcessNew"/>
    <dgm:cxn modelId="{EB7113AE-23D5-451F-AC5D-63BBFC14C646}" type="presParOf" srcId="{A5F598C6-1C0C-4E33-A5E6-AFDE4D02AB03}" destId="{65033F72-0491-4806-B388-CFF5CC4B0C31}" srcOrd="3" destOrd="0" presId="urn:microsoft.com/office/officeart/2016/7/layout/RepeatingBendingProcessNew"/>
    <dgm:cxn modelId="{9836CBDE-5A1E-408B-A911-ED6C58C2FA42}" type="presParOf" srcId="{65033F72-0491-4806-B388-CFF5CC4B0C31}" destId="{4B208128-701F-40EE-B0AD-2AD35946F968}" srcOrd="0" destOrd="0" presId="urn:microsoft.com/office/officeart/2016/7/layout/RepeatingBendingProcessNew"/>
    <dgm:cxn modelId="{2C1FBFB7-C3CA-4937-9894-E86B1921544E}" type="presParOf" srcId="{A5F598C6-1C0C-4E33-A5E6-AFDE4D02AB03}" destId="{07A42878-1CD4-4483-810E-7CE118255F25}" srcOrd="4" destOrd="0" presId="urn:microsoft.com/office/officeart/2016/7/layout/RepeatingBendingProcessNew"/>
    <dgm:cxn modelId="{3693B88B-660C-406A-81FF-6F47C871C510}" type="presParOf" srcId="{A5F598C6-1C0C-4E33-A5E6-AFDE4D02AB03}" destId="{3A033C9C-5447-4265-911C-EE61E78E6E4C}" srcOrd="5" destOrd="0" presId="urn:microsoft.com/office/officeart/2016/7/layout/RepeatingBendingProcessNew"/>
    <dgm:cxn modelId="{3DC9CA1F-3211-4BB5-84DB-D435C6FAF516}" type="presParOf" srcId="{3A033C9C-5447-4265-911C-EE61E78E6E4C}" destId="{4EA10015-0235-4303-B1F5-22292C35F544}" srcOrd="0" destOrd="0" presId="urn:microsoft.com/office/officeart/2016/7/layout/RepeatingBendingProcessNew"/>
    <dgm:cxn modelId="{F28D0F75-3768-49C2-B0D1-65CEAA264486}" type="presParOf" srcId="{A5F598C6-1C0C-4E33-A5E6-AFDE4D02AB03}" destId="{7784A45A-A577-435F-8387-B040D3EF113B}" srcOrd="6" destOrd="0" presId="urn:microsoft.com/office/officeart/2016/7/layout/RepeatingBendingProcessNew"/>
    <dgm:cxn modelId="{D1838BE7-010C-425A-9CCF-2A0B57FC42AF}" type="presParOf" srcId="{A5F598C6-1C0C-4E33-A5E6-AFDE4D02AB03}" destId="{46427B4B-BA80-43D4-AE38-53D317E612FC}" srcOrd="7" destOrd="0" presId="urn:microsoft.com/office/officeart/2016/7/layout/RepeatingBendingProcessNew"/>
    <dgm:cxn modelId="{850D0EB4-CE60-43BE-BD00-FDE4C1412E9C}" type="presParOf" srcId="{46427B4B-BA80-43D4-AE38-53D317E612FC}" destId="{E6A0041F-8CEC-4D1A-8CFD-2F3748060BE1}" srcOrd="0" destOrd="0" presId="urn:microsoft.com/office/officeart/2016/7/layout/RepeatingBendingProcessNew"/>
    <dgm:cxn modelId="{A62895C0-CBD1-45CB-BDF8-8E087B17FA56}" type="presParOf" srcId="{A5F598C6-1C0C-4E33-A5E6-AFDE4D02AB03}" destId="{AF95D173-3AE5-4AD7-80C2-743C9AA64C2F}" srcOrd="8" destOrd="0" presId="urn:microsoft.com/office/officeart/2016/7/layout/RepeatingBendingProcessNew"/>
    <dgm:cxn modelId="{777C4D1C-49B3-446A-8929-D970412BE461}" type="presParOf" srcId="{A5F598C6-1C0C-4E33-A5E6-AFDE4D02AB03}" destId="{C858ECB1-B98B-4506-B975-6F97AFB374CA}" srcOrd="9" destOrd="0" presId="urn:microsoft.com/office/officeart/2016/7/layout/RepeatingBendingProcessNew"/>
    <dgm:cxn modelId="{6C3F023B-1B0D-4FCE-BAAF-DBE134A04444}" type="presParOf" srcId="{C858ECB1-B98B-4506-B975-6F97AFB374CA}" destId="{758EF8FF-F764-4388-80A6-B1ABE1C7CB0D}" srcOrd="0" destOrd="0" presId="urn:microsoft.com/office/officeart/2016/7/layout/RepeatingBendingProcessNew"/>
    <dgm:cxn modelId="{CC10A769-7BB6-4462-BF06-4C504D85AC40}" type="presParOf" srcId="{A5F598C6-1C0C-4E33-A5E6-AFDE4D02AB03}" destId="{3F1C6EED-4483-48B4-94E2-6E0055870769}" srcOrd="10" destOrd="0" presId="urn:microsoft.com/office/officeart/2016/7/layout/RepeatingBendingProcessNew"/>
    <dgm:cxn modelId="{A2E716DD-0811-4124-90E9-89FFB890E390}" type="presParOf" srcId="{A5F598C6-1C0C-4E33-A5E6-AFDE4D02AB03}" destId="{D2361617-252C-4975-97D8-5EDFD6839608}" srcOrd="11" destOrd="0" presId="urn:microsoft.com/office/officeart/2016/7/layout/RepeatingBendingProcessNew"/>
    <dgm:cxn modelId="{BB1C8125-0A6B-45D5-A676-E58C09D68393}" type="presParOf" srcId="{D2361617-252C-4975-97D8-5EDFD6839608}" destId="{351C2E9B-94DD-4AE5-967A-9672A1BADEA8}" srcOrd="0" destOrd="0" presId="urn:microsoft.com/office/officeart/2016/7/layout/RepeatingBendingProcessNew"/>
    <dgm:cxn modelId="{5ED4D5FB-DA25-49AC-9ADB-AF305AA72395}" type="presParOf" srcId="{A5F598C6-1C0C-4E33-A5E6-AFDE4D02AB03}" destId="{45F3C3DF-BF13-45B8-8B81-E08F25053344}" srcOrd="12" destOrd="0" presId="urn:microsoft.com/office/officeart/2016/7/layout/RepeatingBendingProcessNew"/>
    <dgm:cxn modelId="{477F3880-3619-4302-B68C-5ED235BB9C33}" type="presParOf" srcId="{A5F598C6-1C0C-4E33-A5E6-AFDE4D02AB03}" destId="{3CABC04D-2715-4F48-9B6C-1FBFCFB07239}" srcOrd="13" destOrd="0" presId="urn:microsoft.com/office/officeart/2016/7/layout/RepeatingBendingProcessNew"/>
    <dgm:cxn modelId="{5B7E97FF-0FB7-4227-9B08-8BCF56F3A5E2}" type="presParOf" srcId="{3CABC04D-2715-4F48-9B6C-1FBFCFB07239}" destId="{34155C89-3990-4512-BD9A-B1CC670396B0}" srcOrd="0" destOrd="0" presId="urn:microsoft.com/office/officeart/2016/7/layout/RepeatingBendingProcessNew"/>
    <dgm:cxn modelId="{EB6E54E5-A061-4EBB-A4DB-BBCD2ADE4692}" type="presParOf" srcId="{A5F598C6-1C0C-4E33-A5E6-AFDE4D02AB03}" destId="{9B1B2558-A4DF-41A1-8509-9F4E67612987}" srcOrd="14" destOrd="0" presId="urn:microsoft.com/office/officeart/2016/7/layout/RepeatingBendingProcessNew"/>
    <dgm:cxn modelId="{2ECC511F-EB54-4842-9809-2E1D01C04F13}" type="presParOf" srcId="{A5F598C6-1C0C-4E33-A5E6-AFDE4D02AB03}" destId="{E5159891-17BA-48EE-A33B-F9F7D07CA19A}" srcOrd="15" destOrd="0" presId="urn:microsoft.com/office/officeart/2016/7/layout/RepeatingBendingProcessNew"/>
    <dgm:cxn modelId="{60E3D2A7-780B-4ABF-A625-76592DBC6260}" type="presParOf" srcId="{E5159891-17BA-48EE-A33B-F9F7D07CA19A}" destId="{7D65DB18-41D2-489F-9B64-00AAC6FF30ED}" srcOrd="0" destOrd="0" presId="urn:microsoft.com/office/officeart/2016/7/layout/RepeatingBendingProcessNew"/>
    <dgm:cxn modelId="{F26CA571-2AC0-491C-B64C-075D85D945C8}" type="presParOf" srcId="{A5F598C6-1C0C-4E33-A5E6-AFDE4D02AB03}" destId="{CC6B5FEF-F642-4407-9F2A-0767FA204640}" srcOrd="16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ACDFE2-D5C7-47FB-9C7D-C38FFCE0C3DF}">
      <dsp:nvSpPr>
        <dsp:cNvPr id="0" name=""/>
        <dsp:cNvSpPr/>
      </dsp:nvSpPr>
      <dsp:spPr>
        <a:xfrm>
          <a:off x="2669704" y="533944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64480" y="577453"/>
        <a:ext cx="22113" cy="4422"/>
      </dsp:txXfrm>
    </dsp:sp>
    <dsp:sp modelId="{CD77444E-308E-4D9C-BEA9-EBBD93765661}">
      <dsp:nvSpPr>
        <dsp:cNvPr id="0" name=""/>
        <dsp:cNvSpPr/>
      </dsp:nvSpPr>
      <dsp:spPr>
        <a:xfrm>
          <a:off x="748607" y="2795"/>
          <a:ext cx="1922896" cy="115373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baseline="0"/>
            <a:t>What We Tried:</a:t>
          </a:r>
          <a:endParaRPr lang="en-US" sz="1700" kern="1200"/>
        </a:p>
      </dsp:txBody>
      <dsp:txXfrm>
        <a:off x="748607" y="2795"/>
        <a:ext cx="1922896" cy="1153737"/>
      </dsp:txXfrm>
    </dsp:sp>
    <dsp:sp modelId="{65033F72-0491-4806-B388-CFF5CC4B0C31}">
      <dsp:nvSpPr>
        <dsp:cNvPr id="0" name=""/>
        <dsp:cNvSpPr/>
      </dsp:nvSpPr>
      <dsp:spPr>
        <a:xfrm>
          <a:off x="5034866" y="533944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9643" y="577453"/>
        <a:ext cx="22113" cy="4422"/>
      </dsp:txXfrm>
    </dsp:sp>
    <dsp:sp modelId="{15DBEA11-2B77-4843-BA6A-68F048615C63}">
      <dsp:nvSpPr>
        <dsp:cNvPr id="0" name=""/>
        <dsp:cNvSpPr/>
      </dsp:nvSpPr>
      <dsp:spPr>
        <a:xfrm>
          <a:off x="3113770" y="2795"/>
          <a:ext cx="1922896" cy="115373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Dropped low-variance features (like "Cool Deg Days", often zero).</a:t>
          </a:r>
          <a:endParaRPr lang="en-US" sz="1700" kern="1200"/>
        </a:p>
      </dsp:txBody>
      <dsp:txXfrm>
        <a:off x="3113770" y="2795"/>
        <a:ext cx="1922896" cy="1153737"/>
      </dsp:txXfrm>
    </dsp:sp>
    <dsp:sp modelId="{3A033C9C-5447-4265-911C-EE61E78E6E4C}">
      <dsp:nvSpPr>
        <dsp:cNvPr id="0" name=""/>
        <dsp:cNvSpPr/>
      </dsp:nvSpPr>
      <dsp:spPr>
        <a:xfrm>
          <a:off x="7400029" y="533944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594806" y="577453"/>
        <a:ext cx="22113" cy="4422"/>
      </dsp:txXfrm>
    </dsp:sp>
    <dsp:sp modelId="{07A42878-1CD4-4483-810E-7CE118255F25}">
      <dsp:nvSpPr>
        <dsp:cNvPr id="0" name=""/>
        <dsp:cNvSpPr/>
      </dsp:nvSpPr>
      <dsp:spPr>
        <a:xfrm>
          <a:off x="5478933" y="2795"/>
          <a:ext cx="1922896" cy="115373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Added new feature: Temp Range = Max - Min.</a:t>
          </a:r>
          <a:endParaRPr lang="en-US" sz="1700" kern="1200"/>
        </a:p>
      </dsp:txBody>
      <dsp:txXfrm>
        <a:off x="5478933" y="2795"/>
        <a:ext cx="1922896" cy="1153737"/>
      </dsp:txXfrm>
    </dsp:sp>
    <dsp:sp modelId="{46427B4B-BA80-43D4-AE38-53D317E612FC}">
      <dsp:nvSpPr>
        <dsp:cNvPr id="0" name=""/>
        <dsp:cNvSpPr/>
      </dsp:nvSpPr>
      <dsp:spPr>
        <a:xfrm>
          <a:off x="1710055" y="1154733"/>
          <a:ext cx="7095488" cy="411666"/>
        </a:xfrm>
        <a:custGeom>
          <a:avLst/>
          <a:gdLst/>
          <a:ahLst/>
          <a:cxnLst/>
          <a:rect l="0" t="0" r="0" b="0"/>
          <a:pathLst>
            <a:path>
              <a:moveTo>
                <a:pt x="7095488" y="0"/>
              </a:moveTo>
              <a:lnTo>
                <a:pt x="7095488" y="222933"/>
              </a:lnTo>
              <a:lnTo>
                <a:pt x="0" y="222933"/>
              </a:lnTo>
              <a:lnTo>
                <a:pt x="0" y="411666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80068" y="1358355"/>
        <a:ext cx="355462" cy="4422"/>
      </dsp:txXfrm>
    </dsp:sp>
    <dsp:sp modelId="{7784A45A-A577-435F-8387-B040D3EF113B}">
      <dsp:nvSpPr>
        <dsp:cNvPr id="0" name=""/>
        <dsp:cNvSpPr/>
      </dsp:nvSpPr>
      <dsp:spPr>
        <a:xfrm>
          <a:off x="7844095" y="2795"/>
          <a:ext cx="1922896" cy="115373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Tuned n_estimators and max_depth in Random Forest.</a:t>
          </a:r>
          <a:endParaRPr lang="en-US" sz="1700" kern="1200"/>
        </a:p>
      </dsp:txBody>
      <dsp:txXfrm>
        <a:off x="7844095" y="2795"/>
        <a:ext cx="1922896" cy="1153737"/>
      </dsp:txXfrm>
    </dsp:sp>
    <dsp:sp modelId="{C858ECB1-B98B-4506-B975-6F97AFB374CA}">
      <dsp:nvSpPr>
        <dsp:cNvPr id="0" name=""/>
        <dsp:cNvSpPr/>
      </dsp:nvSpPr>
      <dsp:spPr>
        <a:xfrm>
          <a:off x="2669704" y="2129949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64480" y="2173457"/>
        <a:ext cx="22113" cy="4422"/>
      </dsp:txXfrm>
    </dsp:sp>
    <dsp:sp modelId="{AF95D173-3AE5-4AD7-80C2-743C9AA64C2F}">
      <dsp:nvSpPr>
        <dsp:cNvPr id="0" name=""/>
        <dsp:cNvSpPr/>
      </dsp:nvSpPr>
      <dsp:spPr>
        <a:xfrm>
          <a:off x="748607" y="1598800"/>
          <a:ext cx="1922896" cy="115373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baseline="0"/>
            <a:t>Results:</a:t>
          </a:r>
          <a:endParaRPr lang="en-US" sz="1700" kern="1200"/>
        </a:p>
      </dsp:txBody>
      <dsp:txXfrm>
        <a:off x="748607" y="1598800"/>
        <a:ext cx="1922896" cy="1153737"/>
      </dsp:txXfrm>
    </dsp:sp>
    <dsp:sp modelId="{D2361617-252C-4975-97D8-5EDFD6839608}">
      <dsp:nvSpPr>
        <dsp:cNvPr id="0" name=""/>
        <dsp:cNvSpPr/>
      </dsp:nvSpPr>
      <dsp:spPr>
        <a:xfrm>
          <a:off x="5034866" y="2129949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9643" y="2173457"/>
        <a:ext cx="22113" cy="4422"/>
      </dsp:txXfrm>
    </dsp:sp>
    <dsp:sp modelId="{3F1C6EED-4483-48B4-94E2-6E0055870769}">
      <dsp:nvSpPr>
        <dsp:cNvPr id="0" name=""/>
        <dsp:cNvSpPr/>
      </dsp:nvSpPr>
      <dsp:spPr>
        <a:xfrm>
          <a:off x="3113770" y="1598800"/>
          <a:ext cx="1922896" cy="115373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Best performance from </a:t>
          </a:r>
          <a:r>
            <a:rPr lang="en-US" sz="1700" b="1" i="0" kern="1200" baseline="0"/>
            <a:t>Random Forest (n=100)</a:t>
          </a:r>
          <a:r>
            <a:rPr lang="en-US" sz="1700" b="0" i="0" kern="1200" baseline="0"/>
            <a:t> after tuning.</a:t>
          </a:r>
          <a:endParaRPr lang="en-US" sz="1700" kern="1200"/>
        </a:p>
      </dsp:txBody>
      <dsp:txXfrm>
        <a:off x="3113770" y="1598800"/>
        <a:ext cx="1922896" cy="1153737"/>
      </dsp:txXfrm>
    </dsp:sp>
    <dsp:sp modelId="{3CABC04D-2715-4F48-9B6C-1FBFCFB07239}">
      <dsp:nvSpPr>
        <dsp:cNvPr id="0" name=""/>
        <dsp:cNvSpPr/>
      </dsp:nvSpPr>
      <dsp:spPr>
        <a:xfrm>
          <a:off x="7400029" y="2129949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594806" y="2173457"/>
        <a:ext cx="22113" cy="4422"/>
      </dsp:txXfrm>
    </dsp:sp>
    <dsp:sp modelId="{45F3C3DF-BF13-45B8-8B81-E08F25053344}">
      <dsp:nvSpPr>
        <dsp:cNvPr id="0" name=""/>
        <dsp:cNvSpPr/>
      </dsp:nvSpPr>
      <dsp:spPr>
        <a:xfrm>
          <a:off x="5478933" y="1598800"/>
          <a:ext cx="1922896" cy="115373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Additional features slightly improved accuracy.</a:t>
          </a:r>
          <a:endParaRPr lang="en-US" sz="1700" kern="1200"/>
        </a:p>
      </dsp:txBody>
      <dsp:txXfrm>
        <a:off x="5478933" y="1598800"/>
        <a:ext cx="1922896" cy="1153737"/>
      </dsp:txXfrm>
    </dsp:sp>
    <dsp:sp modelId="{E5159891-17BA-48EE-A33B-F9F7D07CA19A}">
      <dsp:nvSpPr>
        <dsp:cNvPr id="0" name=""/>
        <dsp:cNvSpPr/>
      </dsp:nvSpPr>
      <dsp:spPr>
        <a:xfrm>
          <a:off x="1710055" y="2750737"/>
          <a:ext cx="7095488" cy="411666"/>
        </a:xfrm>
        <a:custGeom>
          <a:avLst/>
          <a:gdLst/>
          <a:ahLst/>
          <a:cxnLst/>
          <a:rect l="0" t="0" r="0" b="0"/>
          <a:pathLst>
            <a:path>
              <a:moveTo>
                <a:pt x="7095488" y="0"/>
              </a:moveTo>
              <a:lnTo>
                <a:pt x="7095488" y="222933"/>
              </a:lnTo>
              <a:lnTo>
                <a:pt x="0" y="222933"/>
              </a:lnTo>
              <a:lnTo>
                <a:pt x="0" y="411666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80068" y="2954359"/>
        <a:ext cx="355462" cy="4422"/>
      </dsp:txXfrm>
    </dsp:sp>
    <dsp:sp modelId="{9B1B2558-A4DF-41A1-8509-9F4E67612987}">
      <dsp:nvSpPr>
        <dsp:cNvPr id="0" name=""/>
        <dsp:cNvSpPr/>
      </dsp:nvSpPr>
      <dsp:spPr>
        <a:xfrm>
          <a:off x="7844095" y="1598800"/>
          <a:ext cx="1922896" cy="115373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baseline="0"/>
            <a:t>Did It Work?</a:t>
          </a:r>
          <a:endParaRPr lang="en-US" sz="1700" kern="1200"/>
        </a:p>
      </dsp:txBody>
      <dsp:txXfrm>
        <a:off x="7844095" y="1598800"/>
        <a:ext cx="1922896" cy="1153737"/>
      </dsp:txXfrm>
    </dsp:sp>
    <dsp:sp modelId="{CC6B5FEF-F642-4407-9F2A-0767FA204640}">
      <dsp:nvSpPr>
        <dsp:cNvPr id="0" name=""/>
        <dsp:cNvSpPr/>
      </dsp:nvSpPr>
      <dsp:spPr>
        <a:xfrm>
          <a:off x="748607" y="3194804"/>
          <a:ext cx="1922896" cy="115373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Yes, but limited by dataset size. Overfitting is possible.</a:t>
          </a:r>
          <a:endParaRPr lang="en-US" sz="1700" kern="1200"/>
        </a:p>
      </dsp:txBody>
      <dsp:txXfrm>
        <a:off x="748607" y="3194804"/>
        <a:ext cx="1922896" cy="115373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56B1E-D214-2B0A-0614-68E99972B5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87F419-1395-9F22-3E40-DED026AAFC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1D5A11-D746-1583-C1BB-B81E3D044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9288B-9999-4214-90B6-00792C7E19D3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582960-E69F-E5AC-4D2B-48F471B93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106427-5F01-C32C-B48F-62A05F09E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38030-CC11-466E-B1FB-AE4662FDB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6410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0DF27-6A2F-008B-FCD5-079F6F940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C8845-C469-9F93-9247-C944ECF242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80D32D-5367-835B-1F4D-FF9FC3606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9288B-9999-4214-90B6-00792C7E19D3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8E0295-CF33-5BCE-20FD-F6346CE68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DD7ED8-3F3A-31E1-39E9-8E62391E8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38030-CC11-466E-B1FB-AE4662FDB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4457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A43C3-F0A2-50C3-0E84-20483C4CE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7B20A8-646E-3357-4E3C-A499E23B33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F1E772-32F3-89F2-8E1A-6E45ACAD8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9288B-9999-4214-90B6-00792C7E19D3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85DB94-D8A3-FBE4-C33B-FE4980254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1855B9-00C9-E15F-CC81-7BAD1FF80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38030-CC11-466E-B1FB-AE4662FDB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535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662B2-4D35-46C2-F62E-6DAC7F938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1B44C9-BA08-C2EF-A417-AEA6EC25A1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1FC67D-0316-370E-3DF1-E32BFB1F36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E11380-3657-3B31-F974-1D7FA1D77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9288B-9999-4214-90B6-00792C7E19D3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67F964-E06A-0772-9301-EBD754BBC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29EA2F-1F9C-204B-9A5E-85E0810C2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38030-CC11-466E-B1FB-AE4662FDB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3572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FF019-9442-3406-C3D1-F05AD380D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A0536-6033-FE3B-82B5-D5BA56957A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76F8E8-3C26-E581-39CF-ED217F177E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FDB738-F319-C90D-1847-86153646DD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C3115C-A8C1-AE4E-2269-14A8DF9D50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287BD8-5868-E125-F600-775B0AA4C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9288B-9999-4214-90B6-00792C7E19D3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70AAC2-3BD4-968C-07FC-A566A1241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D0B547-385D-C3EA-902B-2FB28DEFC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38030-CC11-466E-B1FB-AE4662FDB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156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55A8B-85A4-DD94-3293-56E5276C4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8430A5-D239-F6BE-0347-B3D867000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9288B-9999-4214-90B6-00792C7E19D3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75B08D-D45F-B405-B17A-E73D59EF0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10FEE7-2A84-D183-B94E-2AB53A9AA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38030-CC11-466E-B1FB-AE4662FDB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282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64BAC3-94F1-D456-468B-B968E10A2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9288B-9999-4214-90B6-00792C7E19D3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42D485-8E00-7216-912F-DDF6BB4FA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3F70BE-E92B-9387-6466-C60F05913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38030-CC11-466E-B1FB-AE4662FDB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4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EDCF2-B9D5-5C24-9242-0960416FD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E63AE7-8D79-0935-5518-4A561480D6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BC3C77-D61F-3A60-A2AB-8E4F01ABDB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80B17E-C23D-9A80-9F9E-51E4F79A2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9288B-9999-4214-90B6-00792C7E19D3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440DE0-D4C8-4273-FDF0-D9BB29C0E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99FF3A-E182-36E8-254F-8F87667EB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38030-CC11-466E-B1FB-AE4662FDB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578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DD708-4A85-F215-F502-C84BC2A5D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88DCFE-FBD6-C1D3-180F-D57D7283EB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6EF319-0C86-4AE6-E683-A38418CCEC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DDA3FC-01A9-8726-EEEF-9E88949DB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9288B-9999-4214-90B6-00792C7E19D3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21BCBB-5E6F-52E9-69E2-2EAD17B1A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C33762-FA32-8911-A9CC-7B87019A4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38030-CC11-466E-B1FB-AE4662FDB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119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5FE0D-BF01-C469-1FEE-6C1AEC8F6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58A27B-5018-0E24-03F3-F6B0FC2A1E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F7A0EB-0165-1401-40E9-8692393A2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9288B-9999-4214-90B6-00792C7E19D3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06BFF3-3A2F-F33D-40A0-9A605E6EF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94C81F-7755-AB7D-8FFD-49AD7DAA1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38030-CC11-466E-B1FB-AE4662FDB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149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0629CD-C69E-4465-582A-EEC33C5CB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A378D4-BC3F-5A97-A850-4BC95A0FD0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34380-BD44-EE6F-4B7B-1D2EE3F77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9288B-9999-4214-90B6-00792C7E19D3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2C6DAE-9F57-8D3F-F265-01017D243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D8F36E-B468-161F-A4DC-8DE9C9343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38030-CC11-466E-B1FB-AE4662FDB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0073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958F74-38FA-19AA-3FE4-CC0B2ACF0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0B047D-0C8C-CA5E-2D72-5E53FEDA60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04C3B0-5814-18DD-F753-C9CFF37AE5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19288B-9999-4214-90B6-00792C7E19D3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7D3806-151B-EC98-3E11-0F13AA98CF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22B6EB-62EA-B8C6-7A75-E788742BDB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538030-CC11-466E-B1FB-AE4662FDB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465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limate.weather.gc.ca/climate_data/daily_data_e.html?hlyRange=%7C&amp;dlyRange=1950-11-01%7C2025-04-05&amp;mlyRange=1951-01-01%7C2006-12-01&amp;StationID=4255&amp;Prov=ON&amp;urlExtension=_e.html&amp;searchType=stnName&amp;optLimit=yearRange&amp;StartYear=2024&amp;EndYear=2025&amp;selRowPerPage=25&amp;Line=0&amp;searchMethod=contains&amp;Month=4&amp;Day=6&amp;txtStationName=cornwall&amp;timeframe=2&amp;Year=2025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5" name="Rectangle 7174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170" name="Picture 2" descr="Aerial view of a city&#10;&#10;AI-generated content may be incorrect.">
            <a:extLst>
              <a:ext uri="{FF2B5EF4-FFF2-40B4-BE49-F238E27FC236}">
                <a16:creationId xmlns:a16="http://schemas.microsoft.com/office/drawing/2014/main" id="{7E7E4F1C-FF76-641C-8901-A63587B75B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2572"/>
          <a:stretch/>
        </p:blipFill>
        <p:spPr bwMode="auto">
          <a:xfrm>
            <a:off x="20" y="10"/>
            <a:ext cx="1218893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F062798-B05B-506C-4BD4-1469C3DEF7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6324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61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Predicting Mean Temperature from Daily Weather Metrics in Cornwall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E625EF-4305-9494-0919-DD68B488BE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4599432"/>
            <a:ext cx="9144000" cy="153619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900">
                <a:solidFill>
                  <a:schemeClr val="bg1"/>
                </a:solidFill>
              </a:rPr>
              <a:t>Group Members: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chemeClr val="bg1"/>
                </a:solidFill>
              </a:rPr>
              <a:t>Yashwant Bist     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chemeClr val="bg1"/>
                </a:solidFill>
              </a:rPr>
              <a:t>Paras Rawat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900" b="0" i="0" dirty="0">
                <a:solidFill>
                  <a:schemeClr val="bg1"/>
                </a:solidFill>
                <a:effectLst/>
              </a:rPr>
              <a:t>Alaa Sbai Abbassi </a:t>
            </a:r>
            <a:endParaRPr lang="en-US" sz="1900" dirty="0">
              <a:solidFill>
                <a:schemeClr val="bg1"/>
              </a:solidFill>
            </a:endParaRPr>
          </a:p>
        </p:txBody>
      </p:sp>
      <p:sp>
        <p:nvSpPr>
          <p:cNvPr id="7180" name="sketchy line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368623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9406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BBE74B-607E-22B8-480E-082B0781C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000">
                <a:solidFill>
                  <a:schemeClr val="bg1"/>
                </a:solidFill>
              </a:rPr>
              <a:t>Dataset Description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2DE09D-233C-123A-7635-B45295944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1700" b="1" dirty="0"/>
              <a:t>Source:</a:t>
            </a:r>
          </a:p>
          <a:p>
            <a:pPr>
              <a:buNone/>
            </a:pPr>
            <a:r>
              <a:rPr lang="en-US" sz="1700" dirty="0"/>
              <a:t>The dataset was collected from </a:t>
            </a:r>
            <a:r>
              <a:rPr lang="en-US" sz="1700" dirty="0">
                <a:hlinkClick r:id="rId2"/>
              </a:rPr>
              <a:t>Environment Canada for the Cornwall weather station </a:t>
            </a:r>
            <a:r>
              <a:rPr lang="en-US" sz="1700" dirty="0"/>
              <a:t>(Climate ID: 6101874). It covers daily weather data for </a:t>
            </a:r>
            <a:r>
              <a:rPr lang="en-US" sz="1700" b="1" dirty="0"/>
              <a:t>January 2025</a:t>
            </a:r>
            <a:r>
              <a:rPr lang="en-US" sz="1700" dirty="0"/>
              <a:t>.</a:t>
            </a:r>
          </a:p>
          <a:p>
            <a:pPr>
              <a:buNone/>
            </a:pPr>
            <a:r>
              <a:rPr lang="en-US" sz="1700" b="1" dirty="0"/>
              <a:t>Size &amp; Features: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700" dirty="0"/>
              <a:t>Total records: 25 days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700" dirty="0"/>
              <a:t>Features: 30+ columns including: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700" dirty="0"/>
              <a:t>Max Temp, Min Temp, Mean Temp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700" dirty="0"/>
              <a:t>Total Rain, Total Snow, Total </a:t>
            </a:r>
            <a:r>
              <a:rPr lang="en-US" sz="1700" dirty="0" err="1"/>
              <a:t>Precip</a:t>
            </a:r>
            <a:endParaRPr lang="en-US" sz="17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700" dirty="0"/>
              <a:t>Snow on Ground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700" dirty="0"/>
              <a:t>Wind Gust Speed and Direction</a:t>
            </a:r>
          </a:p>
          <a:p>
            <a:pPr>
              <a:buNone/>
            </a:pPr>
            <a:r>
              <a:rPr lang="en-US" sz="1700" b="1" dirty="0"/>
              <a:t>Target Variable: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700" dirty="0"/>
              <a:t>Mean Temp (°C)</a:t>
            </a:r>
          </a:p>
          <a:p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14004015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F12101-E262-C353-B95C-502F2BF7E3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000" b="1"/>
              <a:t>Why This Dataset?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/>
              <a:t>Locally relevant and easy to access.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/>
              <a:t>Compact but rich in environmental variables.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/>
              <a:t>Useful to explore weather trends and apply regression modeling.</a:t>
            </a:r>
          </a:p>
          <a:p>
            <a:pPr marL="0" indent="0">
              <a:buNone/>
            </a:pPr>
            <a:endParaRPr lang="en-US" sz="2000"/>
          </a:p>
          <a:p>
            <a:pPr>
              <a:buNone/>
            </a:pPr>
            <a:r>
              <a:rPr lang="en-US" sz="2000" b="1"/>
              <a:t>Challenges Faced: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/>
              <a:t>Missing Data:</a:t>
            </a:r>
            <a:r>
              <a:rPr lang="en-US" sz="2000"/>
              <a:t> Several days had missing or invalid temperature readings.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/>
              <a:t>Special Flags:</a:t>
            </a:r>
            <a:r>
              <a:rPr lang="en-US" sz="2000"/>
              <a:t> Some fields had "T" or "†" symbols indicating trace or flagged values.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/>
              <a:t>Small Dataset Size:</a:t>
            </a:r>
            <a:r>
              <a:rPr lang="en-US" sz="2000"/>
              <a:t> Only 25 rows, which limits model generalization.</a:t>
            </a:r>
          </a:p>
          <a:p>
            <a:pPr marL="0" indent="0">
              <a:buNone/>
            </a:pPr>
            <a:endParaRPr lang="en-US" sz="2000"/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2021552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52B5D4-5C85-C98E-6238-8F1AF458D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000">
                <a:solidFill>
                  <a:schemeClr val="bg1"/>
                </a:solidFill>
              </a:rPr>
              <a:t>Data Cleaning &amp; Preprocessing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351C171-5ED9-DD22-715E-A9AE7FDA04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55548" y="2217343"/>
            <a:ext cx="10613318" cy="454921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Cleaning Steps: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Removed rows with too many missing or invalid values (e.g., Jan 9).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Replaced trace ("T") with 0 and removed flag symbols (e.g., "†").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Converted date and time fields to proper 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datetime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</a:rPr>
              <a:t> format.</a:t>
            </a:r>
            <a:endParaRPr kumimoji="0" lang="en-US" altLang="en-US" sz="17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Converted all numeric fields to 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float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</a:rPr>
              <a:t>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Feature Engineering: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Extracted </a:t>
            </a: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effectLst/>
                <a:latin typeface="Arial Unicode MS"/>
              </a:rPr>
              <a:t>day_of_week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</a:rPr>
              <a:t> from the date.</a:t>
            </a:r>
            <a:endParaRPr kumimoji="0" lang="en-US" altLang="en-US" sz="17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Computed temperature range (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Max Temp - Min Temp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</a:rPr>
              <a:t>).</a:t>
            </a:r>
            <a:endParaRPr kumimoji="0" lang="en-US" altLang="en-US" sz="17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Encoded categorical values if any (not many in this dataset).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Train/Test Split: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80% for training, 20% for testing (i.e., 20 train / 5 test samples).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Stratified sampling wasn't used due to small dataset.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27572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C20430-F29A-F764-8477-C5F0A242B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000">
                <a:solidFill>
                  <a:schemeClr val="bg1"/>
                </a:solidFill>
              </a:rPr>
              <a:t>Model Selection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B2339EF-456E-9161-583A-8BF5A846BF7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55548" y="2217343"/>
            <a:ext cx="9880893" cy="395961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Models Tried: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7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Linear Regression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7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Random Forest Regressor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7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Decision Tree Regressor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Why These Models?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Linear Regression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Baseline model to assess linearity.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Decision Tree &amp; Random Forest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Handle non-linear patterns, robust to small datasets, no feature scaling required.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Parameter Tuning: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For Random Forest:</a:t>
            </a: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effectLst/>
                <a:latin typeface="Arial Unicode MS"/>
              </a:rPr>
              <a:t>n_estimators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</a:rPr>
              <a:t>: Tried 10, 50, 100</a:t>
            </a:r>
            <a:endParaRPr kumimoji="0" lang="en-US" altLang="en-US" sz="17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effectLst/>
                <a:latin typeface="Arial Unicode MS"/>
              </a:rPr>
              <a:t>max_depth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</a:rPr>
              <a:t>: Limited to avoid overfitting</a:t>
            </a:r>
            <a:endParaRPr kumimoji="0" lang="en-US" altLang="en-US" sz="17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49637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810840-E026-EA5D-1610-9EDB69E21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741392"/>
            <a:ext cx="3455821" cy="560284"/>
          </a:xfrm>
        </p:spPr>
        <p:txBody>
          <a:bodyPr anchor="b">
            <a:normAutofit/>
          </a:bodyPr>
          <a:lstStyle/>
          <a:p>
            <a:r>
              <a:rPr lang="en-US" sz="3200" dirty="0"/>
              <a:t>Evaluation Strategy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1D9D349-B238-76B4-72D7-6BA07DCE36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693" y="1624405"/>
            <a:ext cx="3455821" cy="4356903"/>
          </a:xfrm>
        </p:spPr>
        <p:txBody>
          <a:bodyPr anchor="t">
            <a:normAutofit/>
          </a:bodyPr>
          <a:lstStyle/>
          <a:p>
            <a:pPr>
              <a:buNone/>
            </a:pPr>
            <a:r>
              <a:rPr lang="en-US" sz="2000" b="1" dirty="0"/>
              <a:t>Metric Used: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R² Score</a:t>
            </a:r>
            <a:r>
              <a:rPr lang="en-US" sz="2000" dirty="0"/>
              <a:t> (Coefficient of Determination)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Mean Absolute Error (MAE)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Initial Results:</a:t>
            </a:r>
          </a:p>
          <a:p>
            <a:pPr marL="0" indent="0">
              <a:buNone/>
            </a:pPr>
            <a:endParaRPr lang="en-US" sz="2000" dirty="0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48A9D1E-C6DB-3677-2940-E64839644E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7426882"/>
              </p:ext>
            </p:extLst>
          </p:nvPr>
        </p:nvGraphicFramePr>
        <p:xfrm>
          <a:off x="5475777" y="741391"/>
          <a:ext cx="5413137" cy="5384528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2288829">
                  <a:extLst>
                    <a:ext uri="{9D8B030D-6E8A-4147-A177-3AD203B41FA5}">
                      <a16:colId xmlns:a16="http://schemas.microsoft.com/office/drawing/2014/main" val="985933042"/>
                    </a:ext>
                  </a:extLst>
                </a:gridCol>
                <a:gridCol w="1681166">
                  <a:extLst>
                    <a:ext uri="{9D8B030D-6E8A-4147-A177-3AD203B41FA5}">
                      <a16:colId xmlns:a16="http://schemas.microsoft.com/office/drawing/2014/main" val="814392759"/>
                    </a:ext>
                  </a:extLst>
                </a:gridCol>
                <a:gridCol w="1443142">
                  <a:extLst>
                    <a:ext uri="{9D8B030D-6E8A-4147-A177-3AD203B41FA5}">
                      <a16:colId xmlns:a16="http://schemas.microsoft.com/office/drawing/2014/main" val="211466226"/>
                    </a:ext>
                  </a:extLst>
                </a:gridCol>
              </a:tblGrid>
              <a:tr h="1516163">
                <a:tc>
                  <a:txBody>
                    <a:bodyPr/>
                    <a:lstStyle/>
                    <a:p>
                      <a:pPr algn="ctr"/>
                      <a:r>
                        <a:rPr lang="en-US" sz="3400" b="1" cap="none" spc="0">
                          <a:solidFill>
                            <a:schemeClr val="bg1"/>
                          </a:solidFill>
                        </a:rPr>
                        <a:t>Models </a:t>
                      </a:r>
                    </a:p>
                  </a:txBody>
                  <a:tcPr marL="150535" marR="107526" marT="215050" marB="21505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400" b="1" cap="none" spc="0">
                          <a:solidFill>
                            <a:schemeClr val="bg1"/>
                          </a:solidFill>
                        </a:rPr>
                        <a:t>R² Score</a:t>
                      </a:r>
                    </a:p>
                  </a:txBody>
                  <a:tcPr marL="150535" marR="107526" marT="215050" marB="21505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400" b="1" cap="none" spc="0">
                          <a:solidFill>
                            <a:schemeClr val="bg1"/>
                          </a:solidFill>
                        </a:rPr>
                        <a:t>MAE (°C)</a:t>
                      </a:r>
                    </a:p>
                  </a:txBody>
                  <a:tcPr marL="150535" marR="107526" marT="215050" marB="21505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0353862"/>
                  </a:ext>
                </a:extLst>
              </a:tr>
              <a:tr h="1289455">
                <a:tc>
                  <a:txBody>
                    <a:bodyPr/>
                    <a:lstStyle/>
                    <a:p>
                      <a:pPr algn="ctr"/>
                      <a:r>
                        <a:rPr lang="en-US" sz="2800" cap="none" spc="0">
                          <a:solidFill>
                            <a:schemeClr val="tx1"/>
                          </a:solidFill>
                        </a:rPr>
                        <a:t>Linear Regression</a:t>
                      </a:r>
                    </a:p>
                  </a:txBody>
                  <a:tcPr marL="150535" marR="107526" marT="149639" marB="21505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0.9879226560807309</a:t>
                      </a:r>
                      <a:endParaRPr lang="en-US" sz="28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50535" marR="107526" marT="149639" marB="21505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0.585681632548739</a:t>
                      </a:r>
                      <a:endParaRPr lang="en-US" sz="28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50535" marR="107526" marT="149639" marB="21505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7643370"/>
                  </a:ext>
                </a:extLst>
              </a:tr>
              <a:tr h="1289455">
                <a:tc>
                  <a:txBody>
                    <a:bodyPr/>
                    <a:lstStyle/>
                    <a:p>
                      <a:pPr algn="ctr"/>
                      <a:r>
                        <a:rPr lang="en-US" sz="2800" cap="none" spc="0">
                          <a:solidFill>
                            <a:schemeClr val="tx1"/>
                          </a:solidFill>
                        </a:rPr>
                        <a:t>Decision Tree</a:t>
                      </a:r>
                    </a:p>
                  </a:txBody>
                  <a:tcPr marL="150535" marR="107526" marT="149639" marB="21505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0.9382396631398854</a:t>
                      </a:r>
                      <a:endParaRPr lang="en-US" sz="28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50535" marR="107526" marT="149639" marB="21505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1.3631578947368421</a:t>
                      </a:r>
                      <a:endParaRPr lang="en-US" sz="28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50535" marR="107526" marT="149639" marB="21505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4652545"/>
                  </a:ext>
                </a:extLst>
              </a:tr>
              <a:tr h="1289455">
                <a:tc>
                  <a:txBody>
                    <a:bodyPr/>
                    <a:lstStyle/>
                    <a:p>
                      <a:pPr algn="ctr"/>
                      <a:r>
                        <a:rPr lang="en-US" sz="2800" cap="none" spc="0">
                          <a:solidFill>
                            <a:schemeClr val="tx1"/>
                          </a:solidFill>
                        </a:rPr>
                        <a:t>Random Forest</a:t>
                      </a:r>
                    </a:p>
                  </a:txBody>
                  <a:tcPr marL="150535" marR="107526" marT="149639" marB="21505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0.9999815810610717</a:t>
                      </a:r>
                      <a:endParaRPr lang="en-US" sz="28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50535" marR="107526" marT="149639" marB="21505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0.02321627857125564</a:t>
                      </a:r>
                      <a:endParaRPr lang="en-US" sz="28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50535" marR="107526" marT="149639" marB="21505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34182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27274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CD92B-AA7E-618E-52F1-B61406EC5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Performance Improvement</a:t>
            </a:r>
            <a:endParaRPr lang="en-US" dirty="0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9BDF4470-3D91-CE73-399E-A17B5391C9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9882537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59423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65BC2B-55FB-AD5C-41BB-DC48E1BB1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000">
                <a:solidFill>
                  <a:schemeClr val="bg1"/>
                </a:solidFill>
              </a:rPr>
              <a:t>Challenges &amp; Limitations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9E2352-DC0F-253D-2DF2-B7F658C118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1900" b="1" dirty="0"/>
              <a:t>Hard Parts: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/>
              <a:t>Dealing with trace values and flag characters.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/>
              <a:t>Small dataset limited deep learning or robust validation.</a:t>
            </a:r>
          </a:p>
          <a:p>
            <a:pPr>
              <a:buNone/>
            </a:pPr>
            <a:r>
              <a:rPr lang="en-US" sz="1900" b="1" dirty="0"/>
              <a:t>Unexpected Issues: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/>
              <a:t>Some features like wind gust data were mostly missing.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/>
              <a:t>No meaningful snow or rain for many days, making prediction harder.</a:t>
            </a:r>
          </a:p>
          <a:p>
            <a:pPr>
              <a:buNone/>
            </a:pPr>
            <a:r>
              <a:rPr lang="en-US" sz="1900" b="1" dirty="0"/>
              <a:t>Future Improvements: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/>
              <a:t>Use full-year dataset instead of just January.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/>
              <a:t>Add external features (humidity, air pressure, etc.).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/>
              <a:t>Apply time-series models like ARIMA or LSTM for sequential learning.</a:t>
            </a:r>
          </a:p>
          <a:p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42435346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B4C6B0-241F-2111-4C92-D141EFFB5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Visuals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76D4E19-3B4F-EB05-AA0E-4DEB0EF741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4777316" y="527125"/>
            <a:ext cx="6780700" cy="533579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006132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3991BB-3903-931F-5288-FE9FF6B75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Visuals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61A0AAA-3E36-3F46-6BFE-A39F713746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1656378"/>
            <a:ext cx="6780700" cy="3542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0039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194F24-CB7A-6BFF-9795-54FE3AC8C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Visuals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C081BCA-237C-31EA-A935-7C2414C25E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1520764"/>
            <a:ext cx="6780700" cy="3814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0419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20250D-7521-4B3E-86EB-1156A2E73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Our Team Work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4160F6F-CD72-47B9-6A40-998761BF4E2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55548" y="2217343"/>
            <a:ext cx="9880893" cy="395961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Yashwant :Data collection and cleaning, &amp; heatmap visuals</a:t>
            </a: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Paras Rawat: Implemented Random Forest model,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barplots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Ala </a:t>
            </a:r>
            <a:r>
              <a:rPr lang="en-US" altLang="en-US" sz="2400" dirty="0">
                <a:latin typeface="Arial" panose="020B0604020202020204" pitchFamily="34" charset="0"/>
              </a:rPr>
              <a:t>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li </a:t>
            </a:r>
            <a:r>
              <a:rPr lang="en-US" altLang="en-US" sz="2400" dirty="0" err="1">
                <a:latin typeface="Arial" panose="020B0604020202020204" pitchFamily="34" charset="0"/>
              </a:rPr>
              <a:t>S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baai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Documentation &amp; line plot visuals.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71499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607</Words>
  <Application>Microsoft Office PowerPoint</Application>
  <PresentationFormat>Widescreen</PresentationFormat>
  <Paragraphs>99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Arial Unicode MS</vt:lpstr>
      <vt:lpstr>Office Theme</vt:lpstr>
      <vt:lpstr>Predicting Mean Temperature from Daily Weather Metrics in Cornwall</vt:lpstr>
      <vt:lpstr>Dataset Description</vt:lpstr>
      <vt:lpstr>PowerPoint Presentation</vt:lpstr>
      <vt:lpstr>Data Cleaning &amp; Preprocessing</vt:lpstr>
      <vt:lpstr>Model Selection</vt:lpstr>
      <vt:lpstr>Evaluation Strategy</vt:lpstr>
      <vt:lpstr>Performance Improvement</vt:lpstr>
      <vt:lpstr>Challenges &amp; Limitations</vt:lpstr>
      <vt:lpstr>Visuals</vt:lpstr>
      <vt:lpstr>Visuals</vt:lpstr>
      <vt:lpstr>Visuals</vt:lpstr>
      <vt:lpstr>Our Team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Yashwant Bist</dc:creator>
  <cp:lastModifiedBy>Yashwant Bist</cp:lastModifiedBy>
  <cp:revision>3</cp:revision>
  <dcterms:created xsi:type="dcterms:W3CDTF">2025-04-07T16:05:08Z</dcterms:created>
  <dcterms:modified xsi:type="dcterms:W3CDTF">2025-04-07T19:41:16Z</dcterms:modified>
</cp:coreProperties>
</file>